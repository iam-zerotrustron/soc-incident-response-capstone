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" dt="2026-09-21T19:46:00.6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ker Collins" userId="e48818b804b8a837" providerId="Windows Live" clId="Web-{00000000-0000-0000-0000-000000000000}"/>
    <pc:docChg chg="modSld">
      <pc:chgData name="Parker Collins" userId="e48818b804b8a837" providerId="Windows Live" clId="Web-{00000000-0000-0000-0000-000000000000}" dt="2026-09-21T19:45:58.197" v="9" actId="20577"/>
      <pc:docMkLst>
        <pc:docMk/>
      </pc:docMkLst>
      <pc:sldChg chg="modSp">
        <pc:chgData name="Parker Collins" userId="e48818b804b8a837" providerId="Windows Live" clId="Web-{00000000-0000-0000-0000-000000000000}" dt="2026-09-21T19:45:50.712" v="3" actId="20577"/>
        <pc:sldMkLst>
          <pc:docMk/>
          <pc:sldMk cId="0" sldId="256"/>
        </pc:sldMkLst>
        <pc:spChg chg="mod">
          <ac:chgData name="Parker Collins" userId="e48818b804b8a837" providerId="Windows Live" clId="Web-{00000000-0000-0000-0000-000000000000}" dt="2026-09-21T19:45:50.712" v="3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Parker Collins" userId="e48818b804b8a837" providerId="Windows Live" clId="Web-{00000000-0000-0000-0000-000000000000}" dt="2026-09-21T19:45:58.197" v="9" actId="20577"/>
        <pc:sldMkLst>
          <pc:docMk/>
          <pc:sldMk cId="0" sldId="269"/>
        </pc:sldMkLst>
        <pc:spChg chg="mod">
          <ac:chgData name="Parker Collins" userId="e48818b804b8a837" providerId="Windows Live" clId="Web-{00000000-0000-0000-0000-000000000000}" dt="2026-09-21T19:45:58.197" v="9" actId="20577"/>
          <ac:spMkLst>
            <pc:docMk/>
            <pc:sldMk cId="0" sldId="269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9B8B8-A5E2-4780-82DF-9532AEAF18F9}" type="datetimeFigureOut"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6B049-4878-4C99-AB43-5B547080327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26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Whole team on stage. Parker opens: 'Good afternoon. We're the SOC response team, here to brief you on a security incident involving one of our production servers.' Introduce each 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Speaker: Faith. Plain business terms. 'Legacy = no longer patched'; 'root = total control'. No Nmap or CVE.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Speaker: Ron. Three plain-English risks. Backdoor + disguised FTP headline. We safely tested to confirm.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Speaker: Hossain. Our best story. Our people caught what the scan missed. Ties to AI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Speaker: Parker. Preserve first, contain surgically so business kept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Speaker: Michael. Assurance slide. We REMOVED (not hid) and PROVED via reboot. End on automated health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Speaker: Parker. Let numbers land. Threats gone, no downtime, proof it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Speaker: Parker or Faith. Plain framing: we built a sealed lab so our work couldn't affect anything real, then took inventory. The scan already flagged a backdoor, foreshadow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Speaker: Ron or Hossain. Walk one row (the FTP backdoor). Stress the verification: we didn't just list CVEs, we confirmed each on NVD and proved the FTP one by triggering it. That's the manual-verification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Speaker: Faith or Parker. Two points: we preserved evidence first (crime scene), and we contained surgically, no shutdown. 'Filtered' means the firewall is now blocking those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Speaker: Michael or Hossain. The eradication story. 'Filtered' (Phase 3) meant hidden by firewall; 'closed' (here) means the service is gone. We proved it by rebooting, the fix held. End on the SECURE health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Speaker: Faith or Ron. Middle lesson key: AI is an accelerator, not a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Speaker: Hossain or Michael. Lead with 'retire the server'.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 members for Q&amp;A. Anticipate: could this happen again (yes on legacy, hence retire); was data stolen (answer from evidence); how long (fast, no downtime).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937760" cy="4937760"/>
          </a:xfrm>
          <a:prstGeom prst="ellipse">
            <a:avLst/>
          </a:prstGeom>
          <a:solidFill>
            <a:srgbClr val="5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822960"/>
            <a:ext cx="3474720" cy="347472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 BRIEFING</a:t>
            </a:r>
            <a:endParaRPr lang="en-US" sz="140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Legacy Server Breach</a:t>
            </a:r>
            <a:endParaRPr lang="en-US" sz="440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Containment, and Permanent Remediation of a Compromised Production Server</a:t>
            </a:r>
            <a:endParaRPr lang="en-US" sz="1700"/>
          </a:p>
        </p:txBody>
      </p:sp>
      <p:sp>
        <p:nvSpPr>
          <p:cNvPr id="7" name="Shape 5"/>
          <p:cNvSpPr/>
          <p:nvPr/>
        </p:nvSpPr>
        <p:spPr>
          <a:xfrm>
            <a:off x="868680" y="4160520"/>
            <a:ext cx="1036320" cy="54864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8" name="Shape 6"/>
          <p:cNvSpPr/>
          <p:nvPr/>
        </p:nvSpPr>
        <p:spPr>
          <a:xfrm>
            <a:off x="1905000" y="4160520"/>
            <a:ext cx="1036320" cy="54864"/>
          </a:xfrm>
          <a:prstGeom prst="rect">
            <a:avLst/>
          </a:prstGeom>
          <a:solidFill>
            <a:srgbClr val="FF9E4A"/>
          </a:solidFill>
          <a:ln/>
        </p:spPr>
      </p:sp>
      <p:sp>
        <p:nvSpPr>
          <p:cNvPr id="9" name="Shape 7"/>
          <p:cNvSpPr/>
          <p:nvPr/>
        </p:nvSpPr>
        <p:spPr>
          <a:xfrm>
            <a:off x="2941320" y="4160520"/>
            <a:ext cx="1036320" cy="54864"/>
          </a:xfrm>
          <a:prstGeom prst="rect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434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the SOC Response Team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Parker Collins   ·   Ron Richardson ·   Faith Telva   ·   Hossain Azim   ·   Michael Williams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ALERT</a:t>
            </a:r>
            <a:endParaRPr lang="en-US" sz="115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2B1B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Trusted Server Started Behaving Strangely</a:t>
            </a:r>
            <a:endParaRPr lang="en-US" sz="310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08:00, monitoring flagged unusual outbound traffic from a legacy company server.</a:t>
            </a:r>
            <a:endParaRPr lang="en-US" sz="170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are older machines the business still relies on but that no longer receive routine security updates.</a:t>
            </a:r>
            <a:endParaRPr lang="en-US" sz="1700"/>
          </a:p>
          <a:p>
            <a:pPr marL="342900" indent="-342900">
              <a:buSzPct val="100000"/>
              <a:buChar char="•"/>
            </a:pPr>
            <a:r>
              <a:rPr lang="en-US" sz="17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investigated, determined the damage, and secured the system.</a:t>
            </a:r>
            <a:endParaRPr lang="en-US" sz="1700"/>
          </a:p>
        </p:txBody>
      </p:sp>
      <p:sp>
        <p:nvSpPr>
          <p:cNvPr id="5" name="Shape 3"/>
          <p:cNvSpPr/>
          <p:nvPr/>
        </p:nvSpPr>
        <p:spPr>
          <a:xfrm>
            <a:off x="7315200" y="1874520"/>
            <a:ext cx="4389120" cy="3337560"/>
          </a:xfrm>
          <a:prstGeom prst="roundRect">
            <a:avLst>
              <a:gd name="adj" fmla="val 3836"/>
            </a:avLst>
          </a:prstGeom>
          <a:solidFill>
            <a:srgbClr val="2B1B3D"/>
          </a:solidFill>
          <a:ln/>
          <a:effectLst>
            <a:outerShdw blurRad="114300" dist="38100" dir="5400000" algn="bl" rotWithShape="0">
              <a:srgbClr val="C9A9B8">
                <a:alpha val="5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635240" y="2121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/>
          </a:p>
        </p:txBody>
      </p:sp>
      <p:sp>
        <p:nvSpPr>
          <p:cNvPr id="7" name="Text 5"/>
          <p:cNvSpPr txBox="1"/>
          <p:nvPr/>
        </p:nvSpPr>
        <p:spPr>
          <a:xfrm>
            <a:off x="7635240" y="254203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FF6B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Root</a:t>
            </a:r>
            <a:endParaRPr lang="en-US" sz="5600"/>
          </a:p>
        </p:txBody>
      </p:sp>
      <p:sp>
        <p:nvSpPr>
          <p:cNvPr id="8" name="Text 6"/>
          <p:cNvSpPr txBox="1"/>
          <p:nvPr/>
        </p:nvSpPr>
        <p:spPr>
          <a:xfrm>
            <a:off x="7635240" y="35661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backdoor gave an outside attacker complete administrator control, the highest level of access that exists.</a:t>
            </a:r>
            <a:endParaRPr lang="en-US" sz="150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Server Breach  |  Tech Solutions Inc. SOC</a:t>
            </a:r>
            <a:endParaRPr lang="en-US" sz="900"/>
          </a:p>
        </p:txBody>
      </p:sp>
      <p:sp>
        <p:nvSpPr>
          <p:cNvPr id="10" name="Text 8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BREACH</a:t>
            </a:r>
            <a:endParaRPr lang="en-US" sz="115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2B1B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Found</a:t>
            </a:r>
            <a:endParaRPr lang="en-US" sz="310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had multiple serious weaknesses. Two gave attackers an immediate path to full control.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36118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E7C9BC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51760"/>
            <a:ext cx="731520" cy="73152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!</a:t>
            </a:r>
            <a:endParaRPr lang="en-US" sz="320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B1B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Active Backdoor</a:t>
            </a:r>
            <a:endParaRPr lang="en-US" sz="2000"/>
          </a:p>
        </p:txBody>
      </p:sp>
      <p:sp>
        <p:nvSpPr>
          <p:cNvPr id="9" name="Text 7"/>
          <p:cNvSpPr txBox="1"/>
          <p:nvPr/>
        </p:nvSpPr>
        <p:spPr>
          <a:xfrm>
            <a:off x="777240" y="40690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4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'master key' that opened a full-control session with no password required.</a:t>
            </a:r>
            <a:endParaRPr lang="en-US" sz="1450"/>
          </a:p>
        </p:txBody>
      </p:sp>
      <p:sp>
        <p:nvSpPr>
          <p:cNvPr id="10" name="Shape 8"/>
          <p:cNvSpPr/>
          <p:nvPr/>
        </p:nvSpPr>
        <p:spPr>
          <a:xfrm>
            <a:off x="4251960" y="2331720"/>
            <a:ext cx="36118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E7C9BC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651760"/>
            <a:ext cx="731520" cy="731520"/>
          </a:xfrm>
          <a:prstGeom prst="ellipse">
            <a:avLst/>
          </a:prstGeom>
          <a:solidFill>
            <a:srgbClr val="FF9E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3200"/>
          </a:p>
        </p:txBody>
      </p:sp>
      <p:sp>
        <p:nvSpPr>
          <p:cNvPr id="13" name="Text 11"/>
          <p:cNvSpPr txBox="1"/>
          <p:nvPr/>
        </p:nvSpPr>
        <p:spPr>
          <a:xfrm>
            <a:off x="457200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B1B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Disguised Service</a:t>
            </a:r>
            <a:endParaRPr lang="en-US" sz="2000"/>
          </a:p>
        </p:txBody>
      </p:sp>
      <p:sp>
        <p:nvSpPr>
          <p:cNvPr id="14" name="Text 12"/>
          <p:cNvSpPr txBox="1"/>
          <p:nvPr/>
        </p:nvSpPr>
        <p:spPr>
          <a:xfrm>
            <a:off x="4572000" y="40690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4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file-transfer service faked its identity to look safe. It was a known, exploitable backdoor.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6118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E7C9BC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651760"/>
            <a:ext cx="731520" cy="731520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</a:t>
            </a:r>
            <a:endParaRPr lang="en-US" sz="3200"/>
          </a:p>
        </p:txBody>
      </p:sp>
      <p:sp>
        <p:nvSpPr>
          <p:cNvPr id="18" name="Text 16"/>
          <p:cNvSpPr txBox="1"/>
          <p:nvPr/>
        </p:nvSpPr>
        <p:spPr>
          <a:xfrm>
            <a:off x="836676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B1B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Outdated Software</a:t>
            </a:r>
            <a:endParaRPr lang="en-US" sz="2000"/>
          </a:p>
        </p:txBody>
      </p:sp>
      <p:sp>
        <p:nvSpPr>
          <p:cNvPr id="19" name="Text 17"/>
          <p:cNvSpPr txBox="1"/>
          <p:nvPr/>
        </p:nvSpPr>
        <p:spPr>
          <a:xfrm>
            <a:off x="8366760" y="40690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4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old services carried publicly known, critical flaws with published attack tools.</a:t>
            </a:r>
            <a:endParaRPr lang="en-US" sz="145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Server Breach  |  Tech Solutions Inc. SOC</a:t>
            </a:r>
            <a:endParaRPr lang="en-US" sz="900"/>
          </a:p>
        </p:txBody>
      </p:sp>
      <p:sp>
        <p:nvSpPr>
          <p:cNvPr id="21" name="Text 1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846320"/>
            <a:ext cx="4572000" cy="4572000"/>
          </a:xfrm>
          <a:prstGeom prst="ellipse">
            <a:avLst/>
          </a:prstGeom>
          <a:solidFill>
            <a:srgbClr val="5B2A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5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Service That Lied About Itself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3A23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CLAIMED</a:t>
            </a:r>
            <a:endParaRPr lang="en-US" sz="130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i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“I'm a safe, ordinary file-transfer service.”</a:t>
            </a:r>
            <a:endParaRPr lang="en-US" sz="2100"/>
          </a:p>
        </p:txBody>
      </p:sp>
      <p:sp>
        <p:nvSpPr>
          <p:cNvPr id="8" name="Text 6"/>
          <p:cNvSpPr txBox="1"/>
          <p:nvPr/>
        </p:nvSpPr>
        <p:spPr>
          <a:xfrm>
            <a:off x="731520" y="4023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at face value, this version looked harmless and would have been ignored.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4A1A2E"/>
          </a:solidFill>
          <a:ln w="19050">
            <a:solidFill>
              <a:srgbClr val="FF6B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WAS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>
          <a:xfrm>
            <a:off x="6583680" y="2651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booby-trapped version with a built-in root backdoor.</a:t>
            </a:r>
            <a:endParaRPr lang="en-US" sz="2100"/>
          </a:p>
        </p:txBody>
      </p:sp>
      <p:sp>
        <p:nvSpPr>
          <p:cNvPr id="12" name="Text 10"/>
          <p:cNvSpPr txBox="1"/>
          <p:nvPr/>
        </p:nvSpPr>
        <p:spPr>
          <a:xfrm>
            <a:off x="6583680" y="40233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FF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take its word for it. A controlled test triggered the backdoor and returned full administrator access, proving the disguise.</a:t>
            </a:r>
            <a:endParaRPr lang="en-US" sz="1500"/>
          </a:p>
        </p:txBody>
      </p:sp>
      <p:sp>
        <p:nvSpPr>
          <p:cNvPr id="13" name="Text 11"/>
          <p:cNvSpPr txBox="1"/>
          <p:nvPr/>
        </p:nvSpPr>
        <p:spPr>
          <a:xfrm>
            <a:off x="457200" y="54864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verify, don't trust. Automated tools reported the safe version; hands-on testing found the truth.</a:t>
            </a:r>
            <a:endParaRPr lang="en-US" sz="150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Server Breach  |  Tech Solutions Inc. SOC</a:t>
            </a:r>
            <a:endParaRPr lang="en-US" sz="900"/>
          </a:p>
        </p:txBody>
      </p:sp>
      <p:sp>
        <p:nvSpPr>
          <p:cNvPr id="15" name="Text 13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FF9E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</a:t>
            </a:r>
            <a:endParaRPr lang="en-US" sz="115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2B1B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Stopping the Bleeding, Without Losing the Evidence</a:t>
            </a:r>
            <a:endParaRPr lang="en-US" sz="270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3611880" cy="2697480"/>
          </a:xfrm>
          <a:prstGeom prst="roundRect">
            <a:avLst>
              <a:gd name="adj" fmla="val 4068"/>
            </a:avLst>
          </a:prstGeom>
          <a:solidFill>
            <a:srgbClr val="2B1B3D"/>
          </a:solidFill>
          <a:ln/>
          <a:effectLst>
            <a:outerShdw blurRad="88900" dist="25400" dir="5400000" algn="bl" rotWithShape="0">
              <a:srgbClr val="E7C9BC">
                <a:alpha val="5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2860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460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Preserve</a:t>
            </a:r>
            <a:endParaRPr lang="en-US" sz="2200"/>
          </a:p>
        </p:txBody>
      </p:sp>
      <p:sp>
        <p:nvSpPr>
          <p:cNvPr id="7" name="Text 5"/>
          <p:cNvSpPr txBox="1"/>
          <p:nvPr/>
        </p:nvSpPr>
        <p:spPr>
          <a:xfrm>
            <a:off x="777240" y="3703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a forensic snapshot of the live system before changing anything, so evidence survived.</a:t>
            </a:r>
            <a:endParaRPr lang="en-US" sz="1450"/>
          </a:p>
        </p:txBody>
      </p:sp>
      <p:sp>
        <p:nvSpPr>
          <p:cNvPr id="8" name="Shape 6"/>
          <p:cNvSpPr/>
          <p:nvPr/>
        </p:nvSpPr>
        <p:spPr>
          <a:xfrm>
            <a:off x="4251960" y="2057400"/>
            <a:ext cx="3611880" cy="2697480"/>
          </a:xfrm>
          <a:prstGeom prst="roundRect">
            <a:avLst>
              <a:gd name="adj" fmla="val 4068"/>
            </a:avLst>
          </a:prstGeom>
          <a:solidFill>
            <a:srgbClr val="2B1B3D"/>
          </a:solidFill>
          <a:ln/>
          <a:effectLst>
            <a:outerShdw blurRad="88900" dist="25400" dir="5400000" algn="bl" rotWithShape="0">
              <a:srgbClr val="E7C9BC">
                <a:alpha val="5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22860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4600"/>
          </a:p>
        </p:txBody>
      </p:sp>
      <p:sp>
        <p:nvSpPr>
          <p:cNvPr id="10" name="Text 8"/>
          <p:cNvSpPr txBox="1"/>
          <p:nvPr/>
        </p:nvSpPr>
        <p:spPr>
          <a:xfrm>
            <a:off x="457200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Contain</a:t>
            </a:r>
            <a:endParaRPr lang="en-US" sz="2200"/>
          </a:p>
        </p:txBody>
      </p:sp>
      <p:sp>
        <p:nvSpPr>
          <p:cNvPr id="11" name="Text 9"/>
          <p:cNvSpPr txBox="1"/>
          <p:nvPr/>
        </p:nvSpPr>
        <p:spPr>
          <a:xfrm>
            <a:off x="4572000" y="3703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the attacker's access paths at the firewall while keeping business services running.</a:t>
            </a:r>
            <a:endParaRPr lang="en-US" sz="1450"/>
          </a:p>
        </p:txBody>
      </p:sp>
      <p:sp>
        <p:nvSpPr>
          <p:cNvPr id="12" name="Shape 10"/>
          <p:cNvSpPr/>
          <p:nvPr/>
        </p:nvSpPr>
        <p:spPr>
          <a:xfrm>
            <a:off x="8046720" y="2057400"/>
            <a:ext cx="3611880" cy="2697480"/>
          </a:xfrm>
          <a:prstGeom prst="roundRect">
            <a:avLst>
              <a:gd name="adj" fmla="val 4068"/>
            </a:avLst>
          </a:prstGeom>
          <a:solidFill>
            <a:srgbClr val="2B1B3D"/>
          </a:solidFill>
          <a:ln/>
          <a:effectLst>
            <a:outerShdw blurRad="88900" dist="25400" dir="5400000" algn="bl" rotWithShape="0">
              <a:srgbClr val="E7C9BC">
                <a:alpha val="5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22860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4600"/>
          </a:p>
        </p:txBody>
      </p:sp>
      <p:sp>
        <p:nvSpPr>
          <p:cNvPr id="14" name="Text 12"/>
          <p:cNvSpPr txBox="1"/>
          <p:nvPr/>
        </p:nvSpPr>
        <p:spPr>
          <a:xfrm>
            <a:off x="836676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Verify</a:t>
            </a:r>
            <a:endParaRPr lang="en-US" sz="2200"/>
          </a:p>
        </p:txBody>
      </p:sp>
      <p:sp>
        <p:nvSpPr>
          <p:cNvPr id="15" name="Text 13"/>
          <p:cNvSpPr txBox="1"/>
          <p:nvPr/>
        </p:nvSpPr>
        <p:spPr>
          <a:xfrm>
            <a:off x="8366760" y="3703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from a separate machine that the attack paths were closed.</a:t>
            </a:r>
            <a:endParaRPr lang="en-US" sz="1450"/>
          </a:p>
        </p:txBody>
      </p:sp>
      <p:sp>
        <p:nvSpPr>
          <p:cNvPr id="16" name="Text 14"/>
          <p:cNvSpPr txBox="1"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decision: we contained the threat without shutting the server down, avoiding business disruption while we worked.</a:t>
            </a:r>
            <a:endParaRPr lang="en-US" sz="150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Server Breach  |  Tech Solutions Inc. SOC</a:t>
            </a:r>
            <a:endParaRPr lang="en-US" sz="900"/>
          </a:p>
        </p:txBody>
      </p:sp>
      <p:sp>
        <p:nvSpPr>
          <p:cNvPr id="18" name="Text 16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3FBE8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5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2B1B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Contained to Permanently Fixed</a:t>
            </a:r>
            <a:endParaRPr lang="en-US" sz="310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removed the threats at the source and proved they stayed gone, even after a full restart.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394960" cy="2971800"/>
          </a:xfrm>
          <a:prstGeom prst="roundRect">
            <a:avLst>
              <a:gd name="adj" fmla="val 3692"/>
            </a:avLst>
          </a:prstGeom>
          <a:solidFill>
            <a:srgbClr val="FFE6DA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backdoor gave full root control</a:t>
            </a:r>
            <a:endParaRPr lang="en-US" sz="160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Disguised, exploitable services running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unnecessary services exposed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6309360" y="2331720"/>
            <a:ext cx="5394960" cy="2971800"/>
          </a:xfrm>
          <a:prstGeom prst="roundRect">
            <a:avLst>
              <a:gd name="adj" fmla="val 3692"/>
            </a:avLst>
          </a:prstGeom>
          <a:solidFill>
            <a:srgbClr val="E6F7EF"/>
          </a:solidFill>
          <a:ln w="19050">
            <a:solidFill>
              <a:srgbClr val="3FBE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6583680" y="301752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6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Backdoors removed at the source, confirmed gone</a:t>
            </a:r>
            <a:endParaRPr lang="en-US" sz="160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6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survives a full server restart</a:t>
            </a:r>
            <a:endParaRPr lang="en-US" sz="160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6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 reduced; only needed services remain</a:t>
            </a:r>
            <a:endParaRPr lang="en-US" sz="1600"/>
          </a:p>
          <a:p>
            <a:pPr marL="342900" indent="-342900">
              <a:buSzPct val="100000"/>
              <a:buChar char="✓"/>
            </a:pPr>
            <a:r>
              <a:rPr lang="en-US" sz="16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 reports SECURE on demand</a:t>
            </a:r>
            <a:endParaRPr lang="en-US" sz="160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Server Breach  |  Tech Solutions Inc. SOC</a:t>
            </a:r>
            <a:endParaRPr lang="en-US" sz="900"/>
          </a:p>
        </p:txBody>
      </p:sp>
      <p:sp>
        <p:nvSpPr>
          <p:cNvPr id="12" name="Text 1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480560"/>
            <a:ext cx="4572000" cy="4572000"/>
          </a:xfrm>
          <a:prstGeom prst="ellipse">
            <a:avLst/>
          </a:prstGeom>
          <a:solidFill>
            <a:srgbClr val="5B2A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Bottom Line</a:t>
            </a:r>
            <a:endParaRPr lang="en-US" sz="310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914400" cy="54864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1463040"/>
            <a:ext cx="914400" cy="54864"/>
          </a:xfrm>
          <a:prstGeom prst="rect">
            <a:avLst/>
          </a:prstGeom>
          <a:solidFill>
            <a:srgbClr val="FF9E4A"/>
          </a:solidFill>
          <a:ln/>
        </p:spPr>
      </p:sp>
      <p:sp>
        <p:nvSpPr>
          <p:cNvPr id="6" name="Shape 4"/>
          <p:cNvSpPr/>
          <p:nvPr/>
        </p:nvSpPr>
        <p:spPr>
          <a:xfrm>
            <a:off x="2331720" y="1463040"/>
            <a:ext cx="914400" cy="54864"/>
          </a:xfrm>
          <a:prstGeom prst="rect">
            <a:avLst/>
          </a:prstGeom>
          <a:solidFill>
            <a:srgbClr val="FFC24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3520440" cy="2788920"/>
          </a:xfrm>
          <a:prstGeom prst="roundRect">
            <a:avLst>
              <a:gd name="adj" fmla="val 4590"/>
            </a:avLst>
          </a:prstGeom>
          <a:solidFill>
            <a:srgbClr val="3A23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774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6600"/>
          </a:p>
        </p:txBody>
      </p:sp>
      <p:sp>
        <p:nvSpPr>
          <p:cNvPr id="9" name="Text 7"/>
          <p:cNvSpPr txBox="1"/>
          <p:nvPr/>
        </p:nvSpPr>
        <p:spPr>
          <a:xfrm>
            <a:off x="91440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access paths eliminated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3520440" cy="2788920"/>
          </a:xfrm>
          <a:prstGeom prst="roundRect">
            <a:avLst>
              <a:gd name="adj" fmla="val 4590"/>
            </a:avLst>
          </a:prstGeom>
          <a:solidFill>
            <a:srgbClr val="3A235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89120" y="23774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6600"/>
          </a:p>
        </p:txBody>
      </p:sp>
      <p:sp>
        <p:nvSpPr>
          <p:cNvPr id="12" name="Text 10"/>
          <p:cNvSpPr txBox="1"/>
          <p:nvPr/>
        </p:nvSpPr>
        <p:spPr>
          <a:xfrm>
            <a:off x="466344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services taken offline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8138160" y="2148840"/>
            <a:ext cx="3520440" cy="2788920"/>
          </a:xfrm>
          <a:prstGeom prst="roundRect">
            <a:avLst>
              <a:gd name="adj" fmla="val 4590"/>
            </a:avLst>
          </a:prstGeom>
          <a:solidFill>
            <a:srgbClr val="3A235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38160" y="23774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100%</a:t>
            </a:r>
            <a:endParaRPr lang="en-US" sz="6600"/>
          </a:p>
        </p:txBody>
      </p:sp>
      <p:sp>
        <p:nvSpPr>
          <p:cNvPr id="15" name="Text 13"/>
          <p:cNvSpPr txBox="1"/>
          <p:nvPr/>
        </p:nvSpPr>
        <p:spPr>
          <a:xfrm>
            <a:off x="841248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fixes verified after restart</a:t>
            </a:r>
            <a:endParaRPr lang="en-US" sz="1600"/>
          </a:p>
        </p:txBody>
      </p:sp>
      <p:sp>
        <p:nvSpPr>
          <p:cNvPr id="16" name="Text 14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system is stable, contained, and remediated.</a:t>
            </a:r>
            <a:endParaRPr lang="en-US" sz="200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Server Breach  |  Tech Solutions Inc. SOC</a:t>
            </a:r>
            <a:endParaRPr lang="en-US" sz="900"/>
          </a:p>
        </p:txBody>
      </p:sp>
      <p:sp>
        <p:nvSpPr>
          <p:cNvPr id="18" name="Text 16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B2A6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50"/>
          </a:p>
        </p:txBody>
      </p:sp>
      <p:sp>
        <p:nvSpPr>
          <p:cNvPr id="3" name="Text 1"/>
          <p:cNvSpPr txBox="1"/>
          <p:nvPr/>
        </p:nvSpPr>
        <p:spPr>
          <a:xfrm>
            <a:off x="2377440" y="457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B1B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Building a Safe Place to Work</a:t>
            </a:r>
            <a:endParaRPr lang="en-US" sz="220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4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isolated the compromised server and an analyst machine on their own private network, so nothing could spread, then mapped what the server was running.</a:t>
            </a:r>
            <a:endParaRPr lang="en-US" sz="150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5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lab: attacker VM + target VM on a private NAT network</a:t>
            </a:r>
            <a:endParaRPr lang="en-US" sz="155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5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the two machines could reach each other</a:t>
            </a:r>
            <a:endParaRPr lang="en-US" sz="1550"/>
          </a:p>
          <a:p>
            <a:pPr marL="342900" indent="-342900">
              <a:buSzPct val="100000"/>
              <a:buChar char="✓"/>
            </a:pPr>
            <a:r>
              <a:rPr lang="en-US" sz="155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the server to list every open service and its version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5852160" y="1965960"/>
            <a:ext cx="5852160" cy="2834640"/>
          </a:xfrm>
          <a:prstGeom prst="roundRect">
            <a:avLst>
              <a:gd name="adj" fmla="val 1935"/>
            </a:avLst>
          </a:prstGeom>
          <a:solidFill>
            <a:srgbClr val="241531"/>
          </a:solidFill>
          <a:ln w="12700">
            <a:solidFill>
              <a:srgbClr val="5B2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53328" y="2112264"/>
            <a:ext cx="54498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-sV 192.168.2.3</a:t>
            </a:r>
            <a:endParaRPr lang="en-US" sz="1250"/>
          </a:p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E9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21/tcp   open  ftp      vsftpd</a:t>
            </a:r>
            <a:endParaRPr lang="en-US" sz="1250"/>
          </a:p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E9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22/tcp   open  ssh      OpenSSH 4.7</a:t>
            </a:r>
            <a:endParaRPr lang="en-US" sz="1250"/>
          </a:p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E9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80/tcp   open  http     Apache 2.2.8</a:t>
            </a:r>
            <a:endParaRPr lang="en-US" sz="1250"/>
          </a:p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FF8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1524/tcp open  bindshell (BACKDOOR)</a:t>
            </a:r>
            <a:endParaRPr lang="en-US" sz="1250"/>
          </a:p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9B8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...23 services identified</a:t>
            </a:r>
            <a:endParaRPr lang="en-US" sz="1250"/>
          </a:p>
        </p:txBody>
      </p:sp>
      <p:sp>
        <p:nvSpPr>
          <p:cNvPr id="8" name="Text 6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full inventory of the server's exposure, with a backdoor already visible on port 1524.</a:t>
            </a:r>
            <a:endParaRPr lang="en-US" sz="140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Server Breach  |  Tech Solutions Inc. SOC</a:t>
            </a:r>
            <a:endParaRPr lang="en-US" sz="900"/>
          </a:p>
        </p:txBody>
      </p:sp>
      <p:sp>
        <p:nvSpPr>
          <p:cNvPr id="10" name="Text 8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B2A6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50"/>
          </a:p>
        </p:txBody>
      </p:sp>
      <p:sp>
        <p:nvSpPr>
          <p:cNvPr id="3" name="Text 1"/>
          <p:cNvSpPr txBox="1"/>
          <p:nvPr/>
        </p:nvSpPr>
        <p:spPr>
          <a:xfrm>
            <a:off x="2377440" y="457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B1B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Finding and Confirming the Weaknesses</a:t>
            </a:r>
            <a:endParaRPr lang="en-US" sz="220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4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identified specific known vulnerabilities, then verified each one against the U.S. government's official vulnerability database before trusting it.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108960" cy="457200"/>
          </a:xfrm>
          <a:prstGeom prst="rect">
            <a:avLst/>
          </a:prstGeom>
          <a:solidFill>
            <a:srgbClr val="2B1B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3566160" y="2011680"/>
            <a:ext cx="2103120" cy="457200"/>
          </a:xfrm>
          <a:prstGeom prst="rect">
            <a:avLst/>
          </a:prstGeom>
          <a:solidFill>
            <a:srgbClr val="2B1B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(CVE)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5669280" y="2011680"/>
            <a:ext cx="1371600" cy="457200"/>
          </a:xfrm>
          <a:prstGeom prst="rect">
            <a:avLst/>
          </a:prstGeom>
          <a:solidFill>
            <a:srgbClr val="2B1B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2011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7040880" y="2011680"/>
            <a:ext cx="4206240" cy="457200"/>
          </a:xfrm>
          <a:prstGeom prst="rect">
            <a:avLst/>
          </a:prstGeom>
          <a:solidFill>
            <a:srgbClr val="2B1B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allowed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7C9B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4688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service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3566160" y="2468880"/>
            <a:ext cx="2103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7C9B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0" y="24688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CVE-2011-2523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5669280" y="2468880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7C9B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24688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 Critical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7040880" y="2468880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7C9B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0" y="24688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root backdoor (disguised)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457200" y="3035808"/>
            <a:ext cx="3108960" cy="566928"/>
          </a:xfrm>
          <a:prstGeom prst="rect">
            <a:avLst/>
          </a:prstGeom>
          <a:solidFill>
            <a:srgbClr val="FFE6DA"/>
          </a:solidFill>
          <a:ln w="6350">
            <a:solidFill>
              <a:srgbClr val="E7C9B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0358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distccd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3566160" y="3035808"/>
            <a:ext cx="2103120" cy="566928"/>
          </a:xfrm>
          <a:prstGeom prst="rect">
            <a:avLst/>
          </a:prstGeom>
          <a:solidFill>
            <a:srgbClr val="FFE6DA"/>
          </a:solidFill>
          <a:ln w="6350">
            <a:solidFill>
              <a:srgbClr val="E7C9B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7600" y="30358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CVE-2004-2687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5669280" y="3035808"/>
            <a:ext cx="1371600" cy="566928"/>
          </a:xfrm>
          <a:prstGeom prst="rect">
            <a:avLst/>
          </a:prstGeom>
          <a:solidFill>
            <a:srgbClr val="FFE6DA"/>
          </a:solidFill>
          <a:ln w="6350">
            <a:solidFill>
              <a:srgbClr val="E7C9B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60720" y="303580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Critical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7040880" y="3035808"/>
            <a:ext cx="4206240" cy="566928"/>
          </a:xfrm>
          <a:prstGeom prst="rect">
            <a:avLst/>
          </a:prstGeom>
          <a:solidFill>
            <a:srgbClr val="FFE6DA"/>
          </a:solidFill>
          <a:ln w="6350">
            <a:solidFill>
              <a:srgbClr val="E7C9B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0" y="303580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code execution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457200" y="3602736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7C9B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36027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UnrealIRCd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3566160" y="3602736"/>
            <a:ext cx="2103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7C9B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57600" y="360273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CVE-2010-2075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5669280" y="3602736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7C9B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60720" y="36027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High</a:t>
            </a:r>
            <a:endParaRPr lang="en-US" sz="1200"/>
          </a:p>
        </p:txBody>
      </p:sp>
      <p:sp>
        <p:nvSpPr>
          <p:cNvPr id="35" name="Shape 33"/>
          <p:cNvSpPr/>
          <p:nvPr/>
        </p:nvSpPr>
        <p:spPr>
          <a:xfrm>
            <a:off x="7040880" y="3602736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7C9B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32320" y="360273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Trojaned service, remote control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457200" y="4169664"/>
            <a:ext cx="3108960" cy="566928"/>
          </a:xfrm>
          <a:prstGeom prst="rect">
            <a:avLst/>
          </a:prstGeom>
          <a:solidFill>
            <a:srgbClr val="FFE6DA"/>
          </a:solidFill>
          <a:ln w="6350">
            <a:solidFill>
              <a:srgbClr val="E7C9B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41696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</a:t>
            </a:r>
            <a:endParaRPr lang="en-US" sz="1200"/>
          </a:p>
        </p:txBody>
      </p:sp>
      <p:sp>
        <p:nvSpPr>
          <p:cNvPr id="39" name="Shape 37"/>
          <p:cNvSpPr/>
          <p:nvPr/>
        </p:nvSpPr>
        <p:spPr>
          <a:xfrm>
            <a:off x="3566160" y="4169664"/>
            <a:ext cx="2103120" cy="566928"/>
          </a:xfrm>
          <a:prstGeom prst="rect">
            <a:avLst/>
          </a:prstGeom>
          <a:solidFill>
            <a:srgbClr val="FFE6DA"/>
          </a:solidFill>
          <a:ln w="6350">
            <a:solidFill>
              <a:srgbClr val="E7C9B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657600" y="416966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CVE-2007-2447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5669280" y="4169664"/>
            <a:ext cx="1371600" cy="566928"/>
          </a:xfrm>
          <a:prstGeom prst="rect">
            <a:avLst/>
          </a:prstGeom>
          <a:solidFill>
            <a:srgbClr val="FFE6DA"/>
          </a:solidFill>
          <a:ln w="6350">
            <a:solidFill>
              <a:srgbClr val="E7C9B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760720" y="416966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 Medium</a:t>
            </a:r>
            <a:endParaRPr lang="en-US" sz="1200"/>
          </a:p>
        </p:txBody>
      </p:sp>
      <p:sp>
        <p:nvSpPr>
          <p:cNvPr id="43" name="Shape 41"/>
          <p:cNvSpPr/>
          <p:nvPr/>
        </p:nvSpPr>
        <p:spPr>
          <a:xfrm>
            <a:off x="7040880" y="4169664"/>
            <a:ext cx="4206240" cy="566928"/>
          </a:xfrm>
          <a:prstGeom prst="rect">
            <a:avLst/>
          </a:prstGeom>
          <a:solidFill>
            <a:srgbClr val="FFE6DA"/>
          </a:solidFill>
          <a:ln w="6350">
            <a:solidFill>
              <a:srgbClr val="E7C9B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132320" y="416966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command execution</a:t>
            </a:r>
            <a:endParaRPr lang="en-US" sz="1200"/>
          </a:p>
        </p:txBody>
      </p:sp>
      <p:sp>
        <p:nvSpPr>
          <p:cNvPr id="45" name="Text 43"/>
          <p:cNvSpPr txBox="1"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5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FTP service faked a safe version number. We proved it was the backdoor by safely triggering it, it returned full root access.</a:t>
            </a:r>
            <a:endParaRPr lang="en-US" sz="1400"/>
          </a:p>
        </p:txBody>
      </p:sp>
      <p:sp>
        <p:nvSpPr>
          <p:cNvPr id="46" name="Text 4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Server Breach  |  Tech Solutions Inc. SOC</a:t>
            </a:r>
            <a:endParaRPr lang="en-US" sz="900"/>
          </a:p>
        </p:txBody>
      </p:sp>
      <p:sp>
        <p:nvSpPr>
          <p:cNvPr id="47" name="Text 45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B2A6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50"/>
          </a:p>
        </p:txBody>
      </p:sp>
      <p:sp>
        <p:nvSpPr>
          <p:cNvPr id="3" name="Text 1"/>
          <p:cNvSpPr txBox="1"/>
          <p:nvPr/>
        </p:nvSpPr>
        <p:spPr>
          <a:xfrm>
            <a:off x="2377440" y="457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B1B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Containing the Threat, Preserving Evidence</a:t>
            </a:r>
            <a:endParaRPr lang="en-US" sz="220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4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captured a snapshot of the live system for evidence, then blocked the attacker's paths at the firewall, without shutting the server down.</a:t>
            </a:r>
            <a:endParaRPr lang="en-US" sz="150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5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active connections, running programs, and logs as evidence</a:t>
            </a:r>
            <a:endParaRPr lang="en-US" sz="155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5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the 4 dangerous services at the firewall</a:t>
            </a:r>
            <a:endParaRPr lang="en-US" sz="1550"/>
          </a:p>
          <a:p>
            <a:pPr marL="342900" indent="-342900">
              <a:buSzPct val="100000"/>
              <a:buChar char="✓"/>
            </a:pPr>
            <a:r>
              <a:rPr lang="en-US" sz="155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from the analyst machine that the paths were closed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5852160" y="1965960"/>
            <a:ext cx="5852160" cy="2834640"/>
          </a:xfrm>
          <a:prstGeom prst="roundRect">
            <a:avLst>
              <a:gd name="adj" fmla="val 1935"/>
            </a:avLst>
          </a:prstGeom>
          <a:solidFill>
            <a:srgbClr val="241531"/>
          </a:solidFill>
          <a:ln w="12700">
            <a:solidFill>
              <a:srgbClr val="5B2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53328" y="2112264"/>
            <a:ext cx="54498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9B8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block attacker paths</a:t>
            </a:r>
            <a:endParaRPr lang="en-US" sz="1250"/>
          </a:p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iptables -A INPUT --dport 1524 DROP</a:t>
            </a:r>
            <a:endParaRPr lang="en-US" sz="1250"/>
          </a:p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iptables -A INPUT --dport 21   DROP</a:t>
            </a:r>
            <a:endParaRPr lang="en-US" sz="1250"/>
          </a:p>
          <a:p>
            <a:pPr marL="0" indent="0">
              <a:lnSpc>
                <a:spcPct val="115000"/>
              </a:lnSpc>
              <a:buNone/>
            </a:pPr>
            <a:endParaRPr lang="en-US" sz="1250"/>
          </a:p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9B8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 from analyst VM</a:t>
            </a:r>
            <a:endParaRPr lang="en-US" sz="1250"/>
          </a:p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7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21/tcp   filtered</a:t>
            </a:r>
            <a:endParaRPr lang="en-US" sz="1250"/>
          </a:p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7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1524/tcp filtered</a:t>
            </a:r>
            <a:endParaRPr lang="en-US" sz="1250"/>
          </a:p>
        </p:txBody>
      </p:sp>
      <p:sp>
        <p:nvSpPr>
          <p:cNvPr id="8" name="Text 6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choice: contain without downtime, so the business kept running while we secured the system.</a:t>
            </a:r>
            <a:endParaRPr lang="en-US" sz="140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Server Breach  |  Tech Solutions Inc. SOC</a:t>
            </a:r>
            <a:endParaRPr lang="en-US" sz="900"/>
          </a:p>
        </p:txBody>
      </p:sp>
      <p:sp>
        <p:nvSpPr>
          <p:cNvPr id="10" name="Text 8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B2A6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50"/>
          </a:p>
        </p:txBody>
      </p:sp>
      <p:sp>
        <p:nvSpPr>
          <p:cNvPr id="3" name="Text 1"/>
          <p:cNvSpPr txBox="1"/>
          <p:nvPr/>
        </p:nvSpPr>
        <p:spPr>
          <a:xfrm>
            <a:off x="2377440" y="457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B1B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Removing the Threat for Good</a:t>
            </a:r>
            <a:endParaRPr lang="en-US" sz="220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4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firewall block is temporary. We removed the backdoors at their source, disabled unneeded services, and proved the fixes survive a full restart.</a:t>
            </a:r>
            <a:endParaRPr lang="en-US" sz="150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the backdoor's configuration at the source</a:t>
            </a:r>
            <a:endParaRPr lang="en-US" sz="150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4 additional unnecessary services</a:t>
            </a:r>
            <a:endParaRPr lang="en-US" sz="150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Rebooted and re-checked: services now GONE, not just blocked</a:t>
            </a:r>
            <a:endParaRPr lang="en-US" sz="1500"/>
          </a:p>
          <a:p>
            <a:pPr marL="342900" indent="-342900">
              <a:buSzPct val="100000"/>
              <a:buChar char="✓"/>
            </a:pPr>
            <a:r>
              <a:rPr lang="en-US" sz="15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script that reports SECURE on demand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5852160" y="1965960"/>
            <a:ext cx="5852160" cy="2834640"/>
          </a:xfrm>
          <a:prstGeom prst="roundRect">
            <a:avLst>
              <a:gd name="adj" fmla="val 1935"/>
            </a:avLst>
          </a:prstGeom>
          <a:solidFill>
            <a:srgbClr val="241531"/>
          </a:solidFill>
          <a:ln w="12700">
            <a:solidFill>
              <a:srgbClr val="5B2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53328" y="2112264"/>
            <a:ext cx="54498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9B8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fix + reboot, from analyst VM</a:t>
            </a:r>
            <a:endParaRPr lang="en-US" sz="1250"/>
          </a:p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7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21/tcp   closed</a:t>
            </a:r>
            <a:endParaRPr lang="en-US" sz="1250"/>
          </a:p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7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1524/tcp closed</a:t>
            </a:r>
            <a:endParaRPr lang="en-US" sz="1250"/>
          </a:p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7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3632/tcp closed</a:t>
            </a:r>
            <a:endParaRPr lang="en-US" sz="1250"/>
          </a:p>
          <a:p>
            <a:pPr marL="0" indent="0">
              <a:lnSpc>
                <a:spcPct val="115000"/>
              </a:lnSpc>
              <a:buNone/>
            </a:pPr>
            <a:endParaRPr lang="en-US" sz="1250"/>
          </a:p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./healthcheck.sh</a:t>
            </a:r>
            <a:endParaRPr lang="en-US" sz="1250"/>
          </a:p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7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SECURE</a:t>
            </a:r>
            <a:endParaRPr lang="en-US" sz="1250"/>
          </a:p>
        </p:txBody>
      </p:sp>
      <p:sp>
        <p:nvSpPr>
          <p:cNvPr id="8" name="Text 6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5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'Closed', not just 'filtered': the difference between the threat being removed versus merely hidden. Proven after a restart.</a:t>
            </a:r>
            <a:endParaRPr lang="en-US" sz="140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Server Breach  |  Tech Solutions Inc. SOC</a:t>
            </a:r>
            <a:endParaRPr lang="en-US" sz="900"/>
          </a:p>
        </p:txBody>
      </p:sp>
      <p:sp>
        <p:nvSpPr>
          <p:cNvPr id="10" name="Text 8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B2A6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15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2B1B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This Incident Taught Us</a:t>
            </a:r>
            <a:endParaRPr lang="en-US" sz="310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E7C9BC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377440"/>
            <a:ext cx="548640" cy="5486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219456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2B1B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Verify, don't trust</a:t>
            </a:r>
            <a:endParaRPr lang="en-US" sz="1900"/>
          </a:p>
        </p:txBody>
      </p:sp>
      <p:sp>
        <p:nvSpPr>
          <p:cNvPr id="7" name="Text 5"/>
          <p:cNvSpPr txBox="1"/>
          <p:nvPr/>
        </p:nvSpPr>
        <p:spPr>
          <a:xfrm>
            <a:off x="1600200" y="260604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4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automated tools reported a service as safe. Hands-on testing proved it was a backdoor. Skilled analysts catch what scanners miss.</a:t>
            </a:r>
            <a:endParaRPr lang="en-US" sz="145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E7C9BC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794760"/>
            <a:ext cx="548640" cy="548640"/>
          </a:xfrm>
          <a:prstGeom prst="ellipse">
            <a:avLst/>
          </a:prstGeom>
          <a:solidFill>
            <a:srgbClr val="FF9E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00200" y="36118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2B1B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helped, but needed a human check</a:t>
            </a:r>
            <a:endParaRPr lang="en-US" sz="1900"/>
          </a:p>
        </p:txBody>
      </p:sp>
      <p:sp>
        <p:nvSpPr>
          <p:cNvPr id="11" name="Text 9"/>
          <p:cNvSpPr txBox="1"/>
          <p:nvPr/>
        </p:nvSpPr>
        <p:spPr>
          <a:xfrm>
            <a:off x="1600200" y="402336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4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sped up our research, but it echoed the disguised service's false claim. We confirmed every finding against authoritative sources before acting.</a:t>
            </a:r>
            <a:endParaRPr lang="en-US" sz="1450"/>
          </a:p>
        </p:txBody>
      </p:sp>
      <p:sp>
        <p:nvSpPr>
          <p:cNvPr id="12" name="Shape 10"/>
          <p:cNvSpPr/>
          <p:nvPr/>
        </p:nvSpPr>
        <p:spPr>
          <a:xfrm>
            <a:off x="457200" y="484632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E7C9BC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5212080"/>
            <a:ext cx="548640" cy="548640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600200" y="502920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2B1B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Legacy systems are a standing risk</a:t>
            </a:r>
            <a:endParaRPr lang="en-US" sz="1900"/>
          </a:p>
        </p:txBody>
      </p:sp>
      <p:sp>
        <p:nvSpPr>
          <p:cNvPr id="15" name="Text 13"/>
          <p:cNvSpPr txBox="1"/>
          <p:nvPr/>
        </p:nvSpPr>
        <p:spPr>
          <a:xfrm>
            <a:off x="1600200" y="544068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4A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too old to patch is a liability. Hardening bought us safety now; the lasting fix is to replace it.</a:t>
            </a:r>
            <a:endParaRPr lang="en-US" sz="145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Server Breach  |  Tech Solutions Inc. SOC</a:t>
            </a:r>
            <a:endParaRPr lang="en-US" sz="900"/>
          </a:p>
        </p:txBody>
      </p:sp>
      <p:sp>
        <p:nvSpPr>
          <p:cNvPr id="17" name="Text 15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5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Our Advice Going Forward</a:t>
            </a:r>
            <a:endParaRPr lang="en-US" sz="310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3A23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6B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3400"/>
          </a:p>
        </p:txBody>
      </p:sp>
      <p:sp>
        <p:nvSpPr>
          <p:cNvPr id="6" name="Text 4"/>
          <p:cNvSpPr txBox="1"/>
          <p:nvPr/>
        </p:nvSpPr>
        <p:spPr>
          <a:xfrm>
            <a:off x="1828800" y="222199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Plan to retire this server</a:t>
            </a:r>
            <a:endParaRPr lang="en-US" sz="1900"/>
          </a:p>
        </p:txBody>
      </p:sp>
      <p:sp>
        <p:nvSpPr>
          <p:cNvPr id="7" name="Text 5"/>
          <p:cNvSpPr txBox="1"/>
          <p:nvPr/>
        </p:nvSpPr>
        <p:spPr>
          <a:xfrm>
            <a:off x="1828800" y="262432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durable fix is to migrate its role to a modern, supported system and decommission this one.</a:t>
            </a:r>
            <a:endParaRPr lang="en-US" sz="1450"/>
          </a:p>
        </p:txBody>
      </p:sp>
      <p:sp>
        <p:nvSpPr>
          <p:cNvPr id="8" name="Shape 6"/>
          <p:cNvSpPr/>
          <p:nvPr/>
        </p:nvSpPr>
        <p:spPr>
          <a:xfrm>
            <a:off x="640080" y="3355848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3A23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5387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6B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3400"/>
          </a:p>
        </p:txBody>
      </p:sp>
      <p:sp>
        <p:nvSpPr>
          <p:cNvPr id="10" name="Text 8"/>
          <p:cNvSpPr txBox="1"/>
          <p:nvPr/>
        </p:nvSpPr>
        <p:spPr>
          <a:xfrm>
            <a:off x="1828800" y="35204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Keep it isolated until then</a:t>
            </a:r>
            <a:endParaRPr lang="en-US" sz="1900"/>
          </a:p>
        </p:txBody>
      </p:sp>
      <p:sp>
        <p:nvSpPr>
          <p:cNvPr id="11" name="Text 9"/>
          <p:cNvSpPr txBox="1"/>
          <p:nvPr/>
        </p:nvSpPr>
        <p:spPr>
          <a:xfrm>
            <a:off x="1828800" y="392277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strict network separation so it can never again reach or be reached by the wider network.</a:t>
            </a:r>
            <a:endParaRPr lang="en-US" sz="1450"/>
          </a:p>
        </p:txBody>
      </p:sp>
      <p:sp>
        <p:nvSpPr>
          <p:cNvPr id="12" name="Shape 10"/>
          <p:cNvSpPr/>
          <p:nvPr/>
        </p:nvSpPr>
        <p:spPr>
          <a:xfrm>
            <a:off x="640080" y="4654296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3A23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83717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6B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3400"/>
          </a:p>
        </p:txBody>
      </p:sp>
      <p:sp>
        <p:nvSpPr>
          <p:cNvPr id="14" name="Text 12"/>
          <p:cNvSpPr txBox="1"/>
          <p:nvPr/>
        </p:nvSpPr>
        <p:spPr>
          <a:xfrm>
            <a:off x="1828800" y="481888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Monitor continuously</a:t>
            </a:r>
            <a:endParaRPr lang="en-US" sz="1900"/>
          </a:p>
        </p:txBody>
      </p:sp>
      <p:sp>
        <p:nvSpPr>
          <p:cNvPr id="15" name="Text 13"/>
          <p:cNvSpPr txBox="1"/>
          <p:nvPr/>
        </p:nvSpPr>
        <p:spPr>
          <a:xfrm>
            <a:off x="1828800" y="5221224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automated health check on a schedule so any drift from the secure state is caught immediately.</a:t>
            </a:r>
            <a:endParaRPr lang="en-US" sz="145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Server Breach  |  Tech Solutions Inc. SOC</a:t>
            </a:r>
            <a:endParaRPr lang="en-US" sz="900"/>
          </a:p>
        </p:txBody>
      </p:sp>
      <p:sp>
        <p:nvSpPr>
          <p:cNvPr id="17" name="Text 15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108960"/>
            <a:ext cx="5486400" cy="5486400"/>
          </a:xfrm>
          <a:prstGeom prst="ellipse">
            <a:avLst/>
          </a:prstGeom>
          <a:solidFill>
            <a:srgbClr val="5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023360"/>
            <a:ext cx="3657600" cy="365760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Questions?</a:t>
            </a:r>
            <a:endParaRPr lang="en-US" sz="5400"/>
          </a:p>
        </p:txBody>
      </p:sp>
      <p:sp>
        <p:nvSpPr>
          <p:cNvPr id="5" name="Shape 3"/>
          <p:cNvSpPr/>
          <p:nvPr/>
        </p:nvSpPr>
        <p:spPr>
          <a:xfrm>
            <a:off x="868680" y="3611880"/>
            <a:ext cx="1036320" cy="54864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6" name="Shape 4"/>
          <p:cNvSpPr/>
          <p:nvPr/>
        </p:nvSpPr>
        <p:spPr>
          <a:xfrm>
            <a:off x="1905000" y="3611880"/>
            <a:ext cx="1036320" cy="54864"/>
          </a:xfrm>
          <a:prstGeom prst="rect">
            <a:avLst/>
          </a:prstGeom>
          <a:solidFill>
            <a:srgbClr val="FF9E4A"/>
          </a:solidFill>
          <a:ln/>
        </p:spPr>
      </p:sp>
      <p:sp>
        <p:nvSpPr>
          <p:cNvPr id="7" name="Shape 5"/>
          <p:cNvSpPr/>
          <p:nvPr/>
        </p:nvSpPr>
        <p:spPr>
          <a:xfrm>
            <a:off x="2941320" y="3611880"/>
            <a:ext cx="1036320" cy="54864"/>
          </a:xfrm>
          <a:prstGeom prst="rect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000"/>
          </a:p>
        </p:txBody>
      </p:sp>
      <p:sp>
        <p:nvSpPr>
          <p:cNvPr id="9" name="Text 7"/>
          <p:cNvSpPr txBox="1"/>
          <p:nvPr/>
        </p:nvSpPr>
        <p:spPr>
          <a:xfrm>
            <a:off x="822960" y="47091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E9DD"/>
                </a:solidFill>
                <a:latin typeface="Calibri"/>
                <a:ea typeface="Calibri"/>
                <a:cs typeface="Calibri"/>
              </a:rPr>
              <a:t>SOC Response Team  ·  Parker Collins  ·  Ron Richardson ·  Faith Telva  ·  Hossain Azim  ·  Michael Williams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Server Breach  |  Tech Solutions Inc. SOC</a:t>
            </a:r>
            <a:endParaRPr lang="en-US" sz="900"/>
          </a:p>
        </p:txBody>
      </p:sp>
      <p:sp>
        <p:nvSpPr>
          <p:cNvPr id="11" name="Text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2026-09-21T19:41:28Z</dcterms:created>
  <dcterms:modified xsi:type="dcterms:W3CDTF">2026-09-22T17:36:23Z</dcterms:modified>
</cp:coreProperties>
</file>